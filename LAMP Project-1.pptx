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IBM Plex Sans"/>
      <p:regular r:id="rId19"/>
      <p:bold r:id="rId20"/>
      <p:italic r:id="rId21"/>
      <p:boldItalic r:id="rId22"/>
    </p:embeddedFont>
    <p:embeddedFont>
      <p:font typeface="Sora SemiBold"/>
      <p:regular r:id="rId23"/>
      <p:bold r:id="rId24"/>
    </p:embeddedFont>
    <p:embeddedFont>
      <p:font typeface="IBM Plex Sans Medium"/>
      <p:regular r:id="rId25"/>
      <p:bold r:id="rId26"/>
      <p:italic r:id="rId27"/>
      <p:boldItalic r:id="rId28"/>
    </p:embeddedFont>
    <p:embeddedFont>
      <p:font typeface="Sora Light"/>
      <p:regular r:id="rId29"/>
      <p:bold r:id="rId30"/>
    </p:embeddedFont>
    <p:embeddedFont>
      <p:font typeface="Sora ExtraLight"/>
      <p:regular r:id="rId31"/>
      <p:bold r:id="rId32"/>
    </p:embeddedFont>
    <p:embeddedFont>
      <p:font typeface="Sora"/>
      <p:regular r:id="rId33"/>
      <p:bold r:id="rId34"/>
    </p:embeddedFont>
    <p:embeddedFont>
      <p:font typeface="Sora Medium"/>
      <p:regular r:id="rId35"/>
      <p:bold r:id="rId36"/>
    </p:embeddedFont>
    <p:embeddedFont>
      <p:font typeface="IBM Plex Sans SemiBold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raExtraLight-regular.fntdata"/><Relationship Id="rId30" Type="http://schemas.openxmlformats.org/officeDocument/2006/relationships/font" Target="fonts/SoraLight-bold.fntdata"/><Relationship Id="rId33" Type="http://schemas.openxmlformats.org/officeDocument/2006/relationships/font" Target="fonts/Sora-regular.fntdata"/><Relationship Id="rId32" Type="http://schemas.openxmlformats.org/officeDocument/2006/relationships/font" Target="fonts/SoraExtraLight-bold.fntdata"/><Relationship Id="rId35" Type="http://schemas.openxmlformats.org/officeDocument/2006/relationships/font" Target="fonts/SoraMedium-regular.fntdata"/><Relationship Id="rId34" Type="http://schemas.openxmlformats.org/officeDocument/2006/relationships/font" Target="fonts/Sora-bold.fntdata"/><Relationship Id="rId37" Type="http://schemas.openxmlformats.org/officeDocument/2006/relationships/font" Target="fonts/IBMPlexSansSemiBold-regular.fntdata"/><Relationship Id="rId36" Type="http://schemas.openxmlformats.org/officeDocument/2006/relationships/font" Target="fonts/SoraMedium-bold.fntdata"/><Relationship Id="rId39" Type="http://schemas.openxmlformats.org/officeDocument/2006/relationships/font" Target="fonts/IBMPlexSansSemiBold-italic.fntdata"/><Relationship Id="rId38" Type="http://schemas.openxmlformats.org/officeDocument/2006/relationships/font" Target="fonts/IBMPlexSansSemiBold-bold.fntdata"/><Relationship Id="rId20" Type="http://schemas.openxmlformats.org/officeDocument/2006/relationships/font" Target="fonts/IBMPlexSans-bold.fntdata"/><Relationship Id="rId22" Type="http://schemas.openxmlformats.org/officeDocument/2006/relationships/font" Target="fonts/IBMPlexSans-boldItalic.fntdata"/><Relationship Id="rId21" Type="http://schemas.openxmlformats.org/officeDocument/2006/relationships/font" Target="fonts/IBMPlexSans-italic.fntdata"/><Relationship Id="rId24" Type="http://schemas.openxmlformats.org/officeDocument/2006/relationships/font" Target="fonts/SoraSemiBold-bold.fntdata"/><Relationship Id="rId23" Type="http://schemas.openxmlformats.org/officeDocument/2006/relationships/font" Target="fonts/SoraSemiBold-regular.fntdata"/><Relationship Id="rId26" Type="http://schemas.openxmlformats.org/officeDocument/2006/relationships/font" Target="fonts/IBMPlexSansMedium-bold.fntdata"/><Relationship Id="rId25" Type="http://schemas.openxmlformats.org/officeDocument/2006/relationships/font" Target="fonts/IBMPlexSansMedium-regular.fntdata"/><Relationship Id="rId28" Type="http://schemas.openxmlformats.org/officeDocument/2006/relationships/font" Target="fonts/IBMPlexSansMedium-boldItalic.fntdata"/><Relationship Id="rId27" Type="http://schemas.openxmlformats.org/officeDocument/2006/relationships/font" Target="fonts/IBMPlexSansMedium-italic.fntdata"/><Relationship Id="rId29" Type="http://schemas.openxmlformats.org/officeDocument/2006/relationships/font" Target="fonts/SoraLight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BMPlexSa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h3c4cb4c7440c0d6_3_1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h3c4cb4c7440c0d6_3_1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h3c4cb4c7440c0d6_3_2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h3c4cb4c7440c0d6_3_2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h3c4cb4c7440c0d6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h3c4cb4c7440c0d6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h3c4cb4c7440c0d6_1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h3c4cb4c7440c0d6_1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h3c4cb4c7440c0d6_1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h3c4cb4c7440c0d6_1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h3c4cb4c7440c0d6_1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h3c4cb4c7440c0d6_1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h3c4cb4c7440c0d6_3_2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h3c4cb4c7440c0d6_3_2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h3c4cb4c7440c0d6_3_2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h3c4cb4c7440c0d6_3_2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h3c4cb4c7440c0d6_3_2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h3c4cb4c7440c0d6_3_2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h9a579e597b7928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h9a579e597b7928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h2abc322537c7c4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h2abc322537c7c4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h2abc322537c7c41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h2abc322537c7c41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h13d8619660fc9c42_7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h13d8619660fc9c42_7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6" name="Google Shape;886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theme" Target="../theme/theme2.xml"/><Relationship Id="rId50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5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LAMP – Team 15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93" name="Google Shape;893;p5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Amelia Enderle, Anthony Ionita, 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Lucas McClean, Lydia Rinderknecht, &amp; Ravi Yarlagadda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3"/>
          <p:cNvSpPr/>
          <p:nvPr/>
        </p:nvSpPr>
        <p:spPr>
          <a:xfrm flipH="1" rot="10800000">
            <a:off x="3834357" y="308582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99" name="Google Shape;899;p53"/>
          <p:cNvSpPr/>
          <p:nvPr/>
        </p:nvSpPr>
        <p:spPr>
          <a:xfrm flipH="1" rot="10800000">
            <a:off x="3834357" y="3894748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0" name="Google Shape;900;p53"/>
          <p:cNvSpPr/>
          <p:nvPr/>
        </p:nvSpPr>
        <p:spPr>
          <a:xfrm flipH="1" rot="10800000">
            <a:off x="3834357" y="2302898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1" name="Google Shape;901;p53"/>
          <p:cNvSpPr txBox="1"/>
          <p:nvPr>
            <p:ph idx="3" type="title"/>
          </p:nvPr>
        </p:nvSpPr>
        <p:spPr>
          <a:xfrm>
            <a:off x="857809" y="2346421"/>
            <a:ext cx="2976600" cy="6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Database Developers</a:t>
            </a:r>
            <a:endParaRPr b="1" sz="1600"/>
          </a:p>
        </p:txBody>
      </p:sp>
      <p:sp>
        <p:nvSpPr>
          <p:cNvPr id="902" name="Google Shape;902;p53"/>
          <p:cNvSpPr txBox="1"/>
          <p:nvPr>
            <p:ph idx="6" type="title"/>
          </p:nvPr>
        </p:nvSpPr>
        <p:spPr>
          <a:xfrm>
            <a:off x="4017071" y="2346420"/>
            <a:ext cx="39339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Amelia Enderle, Ravi Yarlagadda </a:t>
            </a:r>
            <a:endParaRPr sz="1600"/>
          </a:p>
        </p:txBody>
      </p:sp>
      <p:sp>
        <p:nvSpPr>
          <p:cNvPr id="903" name="Google Shape;903;p53"/>
          <p:cNvSpPr txBox="1"/>
          <p:nvPr>
            <p:ph idx="7" type="title"/>
          </p:nvPr>
        </p:nvSpPr>
        <p:spPr>
          <a:xfrm>
            <a:off x="4017071" y="3155344"/>
            <a:ext cx="39339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Lydia Rinderknecht</a:t>
            </a:r>
            <a:endParaRPr sz="1600"/>
          </a:p>
        </p:txBody>
      </p:sp>
      <p:sp>
        <p:nvSpPr>
          <p:cNvPr id="904" name="Google Shape;904;p53"/>
          <p:cNvSpPr txBox="1"/>
          <p:nvPr>
            <p:ph idx="8" type="title"/>
          </p:nvPr>
        </p:nvSpPr>
        <p:spPr>
          <a:xfrm>
            <a:off x="4017071" y="3964268"/>
            <a:ext cx="39339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Anthony Ionita</a:t>
            </a:r>
            <a:endParaRPr sz="1600"/>
          </a:p>
        </p:txBody>
      </p:sp>
      <p:sp>
        <p:nvSpPr>
          <p:cNvPr id="905" name="Google Shape;905;p53"/>
          <p:cNvSpPr txBox="1"/>
          <p:nvPr>
            <p:ph idx="4" type="title"/>
          </p:nvPr>
        </p:nvSpPr>
        <p:spPr>
          <a:xfrm>
            <a:off x="857816" y="3155396"/>
            <a:ext cx="2377200" cy="6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API Developer</a:t>
            </a:r>
            <a:endParaRPr b="1" sz="1600"/>
          </a:p>
        </p:txBody>
      </p:sp>
      <p:sp>
        <p:nvSpPr>
          <p:cNvPr id="906" name="Google Shape;906;p53"/>
          <p:cNvSpPr txBox="1"/>
          <p:nvPr>
            <p:ph idx="5" type="title"/>
          </p:nvPr>
        </p:nvSpPr>
        <p:spPr>
          <a:xfrm>
            <a:off x="857816" y="3964372"/>
            <a:ext cx="2377200" cy="6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Frontend Developer</a:t>
            </a:r>
            <a:endParaRPr b="1" sz="1600"/>
          </a:p>
        </p:txBody>
      </p:sp>
      <p:sp>
        <p:nvSpPr>
          <p:cNvPr id="907" name="Google Shape;907;p53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15</a:t>
            </a:r>
            <a:endParaRPr/>
          </a:p>
        </p:txBody>
      </p:sp>
      <p:sp>
        <p:nvSpPr>
          <p:cNvPr id="908" name="Google Shape;908;p53"/>
          <p:cNvSpPr txBox="1"/>
          <p:nvPr>
            <p:ph idx="13" type="title"/>
          </p:nvPr>
        </p:nvSpPr>
        <p:spPr>
          <a:xfrm>
            <a:off x="115025" y="502775"/>
            <a:ext cx="6440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Team</a:t>
            </a:r>
            <a:endParaRPr/>
          </a:p>
        </p:txBody>
      </p:sp>
      <p:sp>
        <p:nvSpPr>
          <p:cNvPr id="909" name="Google Shape;909;p53"/>
          <p:cNvSpPr txBox="1"/>
          <p:nvPr>
            <p:ph idx="3" type="title"/>
          </p:nvPr>
        </p:nvSpPr>
        <p:spPr>
          <a:xfrm>
            <a:off x="857812" y="1516646"/>
            <a:ext cx="2377200" cy="6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Project Manager</a:t>
            </a:r>
            <a:endParaRPr b="1" sz="1600"/>
          </a:p>
        </p:txBody>
      </p:sp>
      <p:sp>
        <p:nvSpPr>
          <p:cNvPr id="910" name="Google Shape;910;p53"/>
          <p:cNvSpPr txBox="1"/>
          <p:nvPr>
            <p:ph idx="6" type="title"/>
          </p:nvPr>
        </p:nvSpPr>
        <p:spPr>
          <a:xfrm>
            <a:off x="4017067" y="1516646"/>
            <a:ext cx="39339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Lucas McClean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5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15</a:t>
            </a:r>
            <a:endParaRPr/>
          </a:p>
        </p:txBody>
      </p:sp>
      <p:sp>
        <p:nvSpPr>
          <p:cNvPr id="916" name="Google Shape;916;p54"/>
          <p:cNvSpPr txBox="1"/>
          <p:nvPr>
            <p:ph idx="3" type="title"/>
          </p:nvPr>
        </p:nvSpPr>
        <p:spPr>
          <a:xfrm>
            <a:off x="245091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Mermaid</a:t>
            </a:r>
            <a:endParaRPr/>
          </a:p>
        </p:txBody>
      </p:sp>
      <p:sp>
        <p:nvSpPr>
          <p:cNvPr id="917" name="Google Shape;917;p54"/>
          <p:cNvSpPr txBox="1"/>
          <p:nvPr>
            <p:ph idx="5" type="title"/>
          </p:nvPr>
        </p:nvSpPr>
        <p:spPr>
          <a:xfrm>
            <a:off x="5299253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cURL</a:t>
            </a:r>
            <a:endParaRPr/>
          </a:p>
        </p:txBody>
      </p:sp>
      <p:sp>
        <p:nvSpPr>
          <p:cNvPr id="918" name="Google Shape;918;p54"/>
          <p:cNvSpPr txBox="1"/>
          <p:nvPr>
            <p:ph idx="2" type="title"/>
          </p:nvPr>
        </p:nvSpPr>
        <p:spPr>
          <a:xfrm>
            <a:off x="115025" y="502775"/>
            <a:ext cx="6055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 Used</a:t>
            </a:r>
            <a:endParaRPr/>
          </a:p>
        </p:txBody>
      </p:sp>
      <p:sp>
        <p:nvSpPr>
          <p:cNvPr id="919" name="Google Shape;919;p54"/>
          <p:cNvSpPr txBox="1"/>
          <p:nvPr>
            <p:ph idx="4" type="title"/>
          </p:nvPr>
        </p:nvSpPr>
        <p:spPr>
          <a:xfrm>
            <a:off x="2764266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Neovim</a:t>
            </a:r>
            <a:endParaRPr/>
          </a:p>
        </p:txBody>
      </p:sp>
      <p:sp>
        <p:nvSpPr>
          <p:cNvPr id="920" name="Google Shape;920;p54"/>
          <p:cNvSpPr txBox="1"/>
          <p:nvPr>
            <p:ph idx="6" type="body"/>
          </p:nvPr>
        </p:nvSpPr>
        <p:spPr>
          <a:xfrm>
            <a:off x="245091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create our diagrams (Gantt, ERD, and UCD).</a:t>
            </a:r>
            <a:endParaRPr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54"/>
          <p:cNvSpPr txBox="1"/>
          <p:nvPr>
            <p:ph idx="9" type="body"/>
          </p:nvPr>
        </p:nvSpPr>
        <p:spPr>
          <a:xfrm>
            <a:off x="5299253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Outperforming Postman since ‘98.</a:t>
            </a:r>
            <a:endParaRPr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54"/>
          <p:cNvSpPr txBox="1"/>
          <p:nvPr>
            <p:ph idx="13" type="body"/>
          </p:nvPr>
        </p:nvSpPr>
        <p:spPr>
          <a:xfrm>
            <a:off x="5299253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for quick-testing endpoints from the remote server.</a:t>
            </a:r>
            <a:endParaRPr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54"/>
          <p:cNvSpPr txBox="1"/>
          <p:nvPr>
            <p:ph idx="1" type="body"/>
          </p:nvPr>
        </p:nvSpPr>
        <p:spPr>
          <a:xfrm>
            <a:off x="245091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Plain text graph generation tool.</a:t>
            </a:r>
            <a:endParaRPr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924" name="Google Shape;924;p54"/>
          <p:cNvSpPr txBox="1"/>
          <p:nvPr>
            <p:ph idx="7" type="body"/>
          </p:nvPr>
        </p:nvSpPr>
        <p:spPr>
          <a:xfrm>
            <a:off x="2764266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“Hyperextensible Vim-based text editor”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editor in existence</a:t>
            </a:r>
            <a:endParaRPr/>
          </a:p>
        </p:txBody>
      </p:sp>
      <p:sp>
        <p:nvSpPr>
          <p:cNvPr id="925" name="Google Shape;925;p54"/>
          <p:cNvSpPr txBox="1"/>
          <p:nvPr>
            <p:ph idx="8" type="body"/>
          </p:nvPr>
        </p:nvSpPr>
        <p:spPr>
          <a:xfrm>
            <a:off x="2764266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for editing code on the remote server.</a:t>
            </a:r>
            <a:endParaRPr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6" name="Google Shape;926;p54"/>
          <p:cNvCxnSpPr/>
          <p:nvPr/>
        </p:nvCxnSpPr>
        <p:spPr>
          <a:xfrm rot="5400000">
            <a:off x="3703041" y="3148650"/>
            <a:ext cx="2489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7" name="Google Shape;927;p54"/>
          <p:cNvCxnSpPr/>
          <p:nvPr/>
        </p:nvCxnSpPr>
        <p:spPr>
          <a:xfrm rot="5400000">
            <a:off x="1170891" y="3148650"/>
            <a:ext cx="2489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5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Opencode Harness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Used for context-aware review, refactoring, and debugging.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ChatGPT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Used to help with CSS styling, div tags, constructing HTML drop down menus and User/Contacts search list result messages. Also used for debugging JavaScript file and for general questions.  </a:t>
            </a:r>
            <a:endParaRPr/>
          </a:p>
        </p:txBody>
      </p:sp>
      <p:sp>
        <p:nvSpPr>
          <p:cNvPr id="933" name="Google Shape;933;p5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 Medium"/>
                <a:ea typeface="Sora Medium"/>
                <a:cs typeface="Sora Medium"/>
                <a:sym typeface="Sora Medium"/>
              </a:rPr>
              <a:t>Review</a:t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Provide review and recommendations based on project’s state and supplied goals.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 Medium"/>
                <a:ea typeface="Sora Medium"/>
                <a:cs typeface="Sora Medium"/>
                <a:sym typeface="Sora Medium"/>
              </a:rPr>
              <a:t>Refactoring</a:t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Made simple changes that required many updates.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 Medium"/>
                <a:ea typeface="Sora Medium"/>
                <a:cs typeface="Sora Medium"/>
                <a:sym typeface="Sora Medium"/>
              </a:rPr>
              <a:t>Debugging</a:t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Help troubleshoot tricky issues that may have to do with environmental problems.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5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15</a:t>
            </a:r>
            <a:endParaRPr/>
          </a:p>
        </p:txBody>
      </p:sp>
      <p:sp>
        <p:nvSpPr>
          <p:cNvPr id="935" name="Google Shape;935;p55"/>
          <p:cNvSpPr txBox="1"/>
          <p:nvPr>
            <p:ph idx="4" type="title"/>
          </p:nvPr>
        </p:nvSpPr>
        <p:spPr>
          <a:xfrm>
            <a:off x="115025" y="502775"/>
            <a:ext cx="5125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Used AI</a:t>
            </a:r>
            <a:endParaRPr/>
          </a:p>
        </p:txBody>
      </p:sp>
      <p:pic>
        <p:nvPicPr>
          <p:cNvPr id="936" name="Google Shape;93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9067" y="-25450"/>
            <a:ext cx="3873526" cy="519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5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15</a:t>
            </a:r>
            <a:endParaRPr/>
          </a:p>
        </p:txBody>
      </p:sp>
      <p:sp>
        <p:nvSpPr>
          <p:cNvPr id="942" name="Google Shape;942;p56"/>
          <p:cNvSpPr txBox="1"/>
          <p:nvPr>
            <p:ph idx="2" type="title"/>
          </p:nvPr>
        </p:nvSpPr>
        <p:spPr>
          <a:xfrm>
            <a:off x="115025" y="502775"/>
            <a:ext cx="5829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Worked</a:t>
            </a:r>
            <a:endParaRPr/>
          </a:p>
        </p:txBody>
      </p:sp>
      <p:sp>
        <p:nvSpPr>
          <p:cNvPr id="943" name="Google Shape;943;p56"/>
          <p:cNvSpPr txBox="1"/>
          <p:nvPr>
            <p:ph idx="4294967295" type="title"/>
          </p:nvPr>
        </p:nvSpPr>
        <p:spPr>
          <a:xfrm>
            <a:off x="731550" y="1406500"/>
            <a:ext cx="7680900" cy="3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Setting up the LAMP stack was fairly easy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Testing endpoints with Postman was seamless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The flow from DB to API to frontend was relatively simple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Setting up DB with using the base from the tutorial was effortless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5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15</a:t>
            </a:r>
            <a:endParaRPr/>
          </a:p>
        </p:txBody>
      </p:sp>
      <p:sp>
        <p:nvSpPr>
          <p:cNvPr id="949" name="Google Shape;949;p57"/>
          <p:cNvSpPr txBox="1"/>
          <p:nvPr>
            <p:ph idx="2" type="title"/>
          </p:nvPr>
        </p:nvSpPr>
        <p:spPr>
          <a:xfrm>
            <a:off x="115025" y="502775"/>
            <a:ext cx="5829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Didn’t</a:t>
            </a:r>
            <a:endParaRPr/>
          </a:p>
        </p:txBody>
      </p:sp>
      <p:sp>
        <p:nvSpPr>
          <p:cNvPr id="950" name="Google Shape;950;p57"/>
          <p:cNvSpPr txBox="1"/>
          <p:nvPr>
            <p:ph idx="4294967295" type="title"/>
          </p:nvPr>
        </p:nvSpPr>
        <p:spPr>
          <a:xfrm>
            <a:off x="731550" y="1406500"/>
            <a:ext cx="7680900" cy="3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Versioning between local copies, GitHub, and the remote server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Syncing the remote server could be a pain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Managing the database without a migration tool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58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Gantt Chart</a:t>
            </a:r>
            <a:endParaRPr/>
          </a:p>
        </p:txBody>
      </p:sp>
      <p:sp>
        <p:nvSpPr>
          <p:cNvPr id="956" name="Google Shape;956;p58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Development Timeline</a:t>
            </a:r>
            <a:endParaRPr/>
          </a:p>
        </p:txBody>
      </p:sp>
      <p:sp>
        <p:nvSpPr>
          <p:cNvPr id="957" name="Google Shape;957;p58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15</a:t>
            </a:r>
            <a:endParaRPr/>
          </a:p>
        </p:txBody>
      </p:sp>
      <p:pic>
        <p:nvPicPr>
          <p:cNvPr descr="%%{init: {&#10;  &quot;theme&quot;: &quot;base&quot;,&#10;  &quot;themeVariables&quot;: {&#10;    &quot;background&quot;: &quot;#0F172A&quot;,&#10;    &quot;primaryColor&quot;: &quot;#4F46E5&quot;,&#10;    &quot;primaryTextColor&quot;: &quot;#FFFFFF&quot;,&#10;    &quot;primaryBorderColor&quot;: &quot;#6366F1&quot;,&#10;    &quot;secondaryColor&quot;: &quot;#334155&quot;,&#10;    &quot;tertiaryColor&quot;: &quot;#1E293B&quot;,&#10;    &quot;gridColor&quot;: &quot;#475569&quot;,&#10;    &quot;sectionBkgColor&quot;: &quot;#1E293B&quot;,&#10;    &quot;altSectionBkgColor&quot;: &quot;#172033&quot;,&#10;    &quot;taskBkgColor&quot;: &quot;#4F46E5&quot;,&#10;    &quot;taskTextColor&quot;: &quot;#FFFFFF&quot;,&#10;    &quot;taskBorderColor&quot;: &quot;#6366F1&quot;,&#10;    &quot;activeTaskBkgColor&quot;: &quot;#F59E0B&quot;,&#10;    &quot;activeTaskBorderColor&quot;: &quot;#FBBF24&quot;,&#10;    &quot;doneTaskBkgColor&quot;: &quot;#10B981&quot;,&#10;    &quot;doneTaskBorderColor&quot;: &quot;#34D399&quot;,&#10;    &quot;todayLineColor&quot;: &quot;#F43F5E&quot;,&#10;    &quot;titleColor&quot;: &quot;#F8FAFC&quot;,&#10;    &quot;sectionBkgColor&quot;: &quot;#1E293B&quot;,&#10;    &quot;sectionBkgColor2&quot;: &quot;#1E293B&quot;,&#10;    &quot;taskTextOutsideColor&quot;: &quot;#F8FAFC&quot;,&#10;    &quot;textColor&quot;: &quot;#E2E8F0&quot;&#10;  }&#10;}}%%&#10;&#10;gantt&#10;    title LAMP Timeline&#10;    dateFormat MM/DD&#10;    axisFormat %m/%d&#10;&#10;    section Planning&#10;    Roles &amp; Planning :done, s1, 2026-08-25, 7d&#10;&#10;    section DB&#10;    DB :done, s2, 2026-09-01, 7d&#10;&#10;    section API&#10;    API :done, s3, 2026-09-08, 7d&#10;&#10;    section Frontend&#10;    Frontend :done, s4, 2026-09-15, 7d&#10;&#10;    section Finalization&#10;    Testing &amp; Integration :active, s5, 2026-09-22, 7d" id="958" name="Google Shape;958;p58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4300"/>
            <a:ext cx="9895476" cy="27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5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15</a:t>
            </a:r>
            <a:endParaRPr/>
          </a:p>
        </p:txBody>
      </p:sp>
      <p:sp>
        <p:nvSpPr>
          <p:cNvPr id="964" name="Google Shape;964;p5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Entity Relationship Diagram</a:t>
            </a:r>
            <a:endParaRPr/>
          </a:p>
        </p:txBody>
      </p:sp>
      <p:sp>
        <p:nvSpPr>
          <p:cNvPr id="965" name="Google Shape;965;p5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ERD</a:t>
            </a:r>
            <a:endParaRPr/>
          </a:p>
        </p:txBody>
      </p:sp>
      <p:pic>
        <p:nvPicPr>
          <p:cNvPr descr="erDiagram&#10;    direction LR&#10;    Users {&#10;        int ID PK&#10;        varchar First_Name&#10;        varchar Last_Name&#10;        varchar Login UK&#10;        varchar Password&#10;        timestamp Date_Created&#10;        timestamp Date_Updated&#10;        tinyint Admin&#10;        tinyint Enabled&#10;    }&#10;&#10;    Contacts {&#10;        int ID PK&#10;        varchar First_Name&#10;        varchar Last_Name&#10;        varchar Email&#10;        varchar Phone&#10;        timestamp Date_Created&#10;        timestamp Date_Updated&#10;        int UserID FK&#10;    }&#10;&#10;    Users ||--o{ Contacts : &quot;owns (UserID)&quot;" id="966" name="Google Shape;966;p59" title="mermaid-graph/neutral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6637" y="1107672"/>
            <a:ext cx="5910725" cy="3576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1" name="Google Shape;971;p60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2" name="Google Shape;972;p6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15</a:t>
            </a:r>
            <a:endParaRPr/>
          </a:p>
        </p:txBody>
      </p:sp>
      <p:sp>
        <p:nvSpPr>
          <p:cNvPr id="973" name="Google Shape;973;p6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Diagram</a:t>
            </a:r>
            <a:endParaRPr/>
          </a:p>
        </p:txBody>
      </p:sp>
      <p:sp>
        <p:nvSpPr>
          <p:cNvPr id="974" name="Google Shape;974;p60"/>
          <p:cNvSpPr txBox="1"/>
          <p:nvPr>
            <p:ph idx="6" type="subTitle"/>
          </p:nvPr>
        </p:nvSpPr>
        <p:spPr>
          <a:xfrm>
            <a:off x="2176499" y="3927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User UML</a:t>
            </a:r>
            <a:endParaRPr b="1" sz="1400"/>
          </a:p>
        </p:txBody>
      </p:sp>
      <p:pic>
        <p:nvPicPr>
          <p:cNvPr id="975" name="Google Shape;975;p60" title="Untitled Diagram.drawi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3838" y="912900"/>
            <a:ext cx="6796314" cy="39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0" name="Google Shape;980;p6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1" name="Google Shape;981;p6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15</a:t>
            </a:r>
            <a:endParaRPr/>
          </a:p>
        </p:txBody>
      </p:sp>
      <p:sp>
        <p:nvSpPr>
          <p:cNvPr id="982" name="Google Shape;982;p61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Diagram</a:t>
            </a:r>
            <a:endParaRPr/>
          </a:p>
        </p:txBody>
      </p:sp>
      <p:sp>
        <p:nvSpPr>
          <p:cNvPr id="983" name="Google Shape;983;p61"/>
          <p:cNvSpPr txBox="1"/>
          <p:nvPr>
            <p:ph idx="6" type="subTitle"/>
          </p:nvPr>
        </p:nvSpPr>
        <p:spPr>
          <a:xfrm>
            <a:off x="2176499" y="3927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Admin</a:t>
            </a:r>
            <a:r>
              <a:rPr b="1" lang="en" sz="1400"/>
              <a:t> UML</a:t>
            </a:r>
            <a:endParaRPr b="1" sz="1400"/>
          </a:p>
        </p:txBody>
      </p:sp>
      <p:pic>
        <p:nvPicPr>
          <p:cNvPr id="984" name="Google Shape;984;p61" title="Untitled Diagram.drawio (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8000" y="730350"/>
            <a:ext cx="6748001" cy="4069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62"/>
          <p:cNvSpPr txBox="1"/>
          <p:nvPr>
            <p:ph type="title"/>
          </p:nvPr>
        </p:nvSpPr>
        <p:spPr>
          <a:xfrm>
            <a:off x="311700" y="405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600"/>
              <a:t>API Architecture</a:t>
            </a:r>
            <a:endParaRPr sz="92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1" name="Google Shape;991;p62" title="mermaid-ai-diagram-2026-09-26-1755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238" y="1152475"/>
            <a:ext cx="8443500" cy="3735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992" name="Google Shape;992;p62"/>
          <p:cNvSpPr txBox="1"/>
          <p:nvPr/>
        </p:nvSpPr>
        <p:spPr>
          <a:xfrm>
            <a:off x="0" y="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Team 15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/>
              <a:t>Request Flow: Contact Search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8" name="Google Shape;998;p63" title="Untitled diagram-2026-09-26-1843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25" y="1170575"/>
            <a:ext cx="9002400" cy="1965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999" name="Google Shape;999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8350" y="3319250"/>
            <a:ext cx="6247200" cy="1703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00" name="Google Shape;1000;p63"/>
          <p:cNvSpPr txBox="1"/>
          <p:nvPr/>
        </p:nvSpPr>
        <p:spPr>
          <a:xfrm>
            <a:off x="0" y="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Team 15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6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  <p:sp>
        <p:nvSpPr>
          <p:cNvPr id="1006" name="Google Shape;1006;p64"/>
          <p:cNvSpPr txBox="1"/>
          <p:nvPr/>
        </p:nvSpPr>
        <p:spPr>
          <a:xfrm>
            <a:off x="152400" y="15240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Team 15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